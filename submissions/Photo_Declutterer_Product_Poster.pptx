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213883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4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customXml" Target="../customXml/item1.xml"/><Relationship Id="rId8" Type="http://schemas.openxmlformats.org/officeDocument/2006/relationships/customXml" Target="../customXml/item2.xml"/><Relationship Id="rId9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64008"/>
            <a:ext cx="30275784" cy="2852928"/>
          </a:xfrm>
          <a:prstGeom prst="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1184775" cy="69557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PHOTO DECLUTTERER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34440"/>
            <a:ext cx="10396728" cy="43396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AI-powered photo organization for faster, safer decluttering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920240"/>
            <a:ext cx="6720840" cy="326243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Mentor: Dr. Sushopti Gawade | Team: Pranav Waghmare | Deep Learning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0" y="411480"/>
            <a:ext cx="196596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3911560" y="658368"/>
            <a:ext cx="1691640" cy="9601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2000" b="1">
                <a:solidFill>
                  <a:srgbClr val="122A42"/>
                </a:solidFill>
                <a:latin typeface="Aptos"/>
              </a:rPr>
              <a:t>QR</a:t>
            </a:r>
            <a:br/>
            <a:r>
              <a:t>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923240" y="685800"/>
            <a:ext cx="3566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Live Prototype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23240" y="1234440"/>
            <a:ext cx="3566160" cy="685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Streamlit review UI + soft-delete workflow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4680"/>
            <a:ext cx="70866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154680"/>
            <a:ext cx="109728" cy="4800600"/>
          </a:xfrm>
          <a:prstGeom prst="rect">
            <a:avLst/>
          </a:prstGeom>
          <a:solidFill>
            <a:srgbClr val="36B1C2"/>
          </a:solidFill>
          <a:ln>
            <a:solidFill>
              <a:srgbClr val="36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3319272"/>
            <a:ext cx="6675120" cy="4185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01. PHOTO DECLUTTERER</a:t>
            </a:r>
            <a:endParaRPr sz="2000" b="1" dirty="0">
              <a:solidFill>
                <a:srgbClr val="122A42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3913632"/>
            <a:ext cx="6629400" cy="3886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AI photo decluttering pipeline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Finds blurry, redundant, and low-value images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Target: personal photo libraries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Why now: libraries grow faster than manual review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Core innovation: quality + similarity + semantic clusters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154680"/>
            <a:ext cx="70866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772400" y="3154680"/>
            <a:ext cx="109728" cy="4800600"/>
          </a:xfrm>
          <a:prstGeom prst="rect">
            <a:avLst/>
          </a:prstGeom>
          <a:solidFill>
            <a:srgbClr val="E07E2F"/>
          </a:solidFill>
          <a:ln>
            <a:solidFill>
              <a:srgbClr val="E0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01000" y="3319272"/>
            <a:ext cx="66751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02. PROBLEM STATEMENT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9288" y="3913632"/>
            <a:ext cx="6629400" cy="3886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Photos accumulate across phones, drives, and clouds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Manual sorting is slow and inconsistent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Blurry shots and duplicates waste storage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Existing tools often hide their reasoning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Users need control before anything is removed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41880" y="3154680"/>
            <a:ext cx="70866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5041880" y="3154680"/>
            <a:ext cx="109728" cy="4800600"/>
          </a:xfrm>
          <a:prstGeom prst="rect">
            <a:avLst/>
          </a:prstGeom>
          <a:solidFill>
            <a:srgbClr val="308B5E"/>
          </a:solidFill>
          <a:ln>
            <a:solidFill>
              <a:srgbClr val="30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5270480" y="3319272"/>
            <a:ext cx="66751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03. OUR SOLUTION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88767" y="3913632"/>
            <a:ext cx="6629400" cy="38862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Local pipeline scans a photo folder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Laplacian/CNN/ResNet blur scoring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CLIP embeddings for duplicate detection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K-Means content grouping and labels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Ranked Keep/Delete recommendations with human approval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2311360" y="3154680"/>
            <a:ext cx="7452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2585680" y="3319272"/>
            <a:ext cx="69037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04. PROTOTYPE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603968" y="4069080"/>
            <a:ext cx="2057400" cy="2148840"/>
          </a:xfrm>
          <a:prstGeom prst="roundRect">
            <a:avLst/>
          </a:prstGeom>
          <a:solidFill>
            <a:srgbClr val="F4F8FB"/>
          </a:solidFill>
          <a:ln>
            <a:solidFill>
              <a:srgbClr val="C8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2713696" y="4736592"/>
            <a:ext cx="1828800" cy="731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PIPELINE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+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MODELS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871680" y="4069080"/>
            <a:ext cx="2057400" cy="2148840"/>
          </a:xfrm>
          <a:prstGeom prst="roundRect">
            <a:avLst/>
          </a:prstGeom>
          <a:solidFill>
            <a:srgbClr val="F4F8FB"/>
          </a:solidFill>
          <a:ln>
            <a:solidFill>
              <a:srgbClr val="C8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981408" y="4736592"/>
            <a:ext cx="1828800" cy="731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STREAMLIT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REVIEW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139392" y="4069080"/>
            <a:ext cx="2057400" cy="2148840"/>
          </a:xfrm>
          <a:prstGeom prst="roundRect">
            <a:avLst/>
          </a:prstGeom>
          <a:solidFill>
            <a:srgbClr val="F4F8FB"/>
          </a:solidFill>
          <a:ln>
            <a:solidFill>
              <a:srgbClr val="C8D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7249120" y="4736592"/>
            <a:ext cx="1828800" cy="7315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SAFE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TRASH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603968" y="6446520"/>
            <a:ext cx="6858000" cy="8229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Prototype status: Tested pipeline + working review UI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2920" y="8275320"/>
            <a:ext cx="950976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8275320"/>
            <a:ext cx="109728" cy="4251960"/>
          </a:xfrm>
          <a:prstGeom prst="rect">
            <a:avLst/>
          </a:prstGeom>
          <a:solidFill>
            <a:srgbClr val="2468AA"/>
          </a:solidFill>
          <a:ln>
            <a:solidFill>
              <a:srgbClr val="24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8439912"/>
            <a:ext cx="90982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000" b="1">
                <a:solidFill>
                  <a:srgbClr val="122A42"/>
                </a:solidFill>
                <a:latin typeface="Aptos"/>
              </a:rPr>
              <a:t>05. HOW IT WORKS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9372600"/>
            <a:ext cx="1417320" cy="1005840"/>
          </a:xfrm>
          <a:prstGeom prst="roundRect">
            <a:avLst/>
          </a:prstGeom>
          <a:solidFill>
            <a:srgbClr val="F4F8FB"/>
          </a:solidFill>
          <a:ln>
            <a:solidFill>
              <a:srgbClr val="24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68680" y="9582912"/>
            <a:ext cx="13258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PHOTO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FOLDER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40280" y="9582912"/>
            <a:ext cx="347472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200" b="1">
                <a:solidFill>
                  <a:srgbClr val="2468AA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06040" y="9372600"/>
            <a:ext cx="1417320" cy="1005840"/>
          </a:xfrm>
          <a:prstGeom prst="roundRect">
            <a:avLst/>
          </a:prstGeom>
          <a:solidFill>
            <a:srgbClr val="F4F8FB"/>
          </a:solidFill>
          <a:ln>
            <a:solidFill>
              <a:srgbClr val="24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651760" y="9582912"/>
            <a:ext cx="13258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LAPLACIAN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+ CLIP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023360" y="9582912"/>
            <a:ext cx="347472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200" b="1">
                <a:solidFill>
                  <a:srgbClr val="2468AA"/>
                </a:solidFill>
                <a:latin typeface="Aptos"/>
              </a:rP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89120" y="9372600"/>
            <a:ext cx="1417320" cy="1005840"/>
          </a:xfrm>
          <a:prstGeom prst="roundRect">
            <a:avLst/>
          </a:prstGeom>
          <a:solidFill>
            <a:srgbClr val="F4F8FB"/>
          </a:solidFill>
          <a:ln>
            <a:solidFill>
              <a:srgbClr val="24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434840" y="9582912"/>
            <a:ext cx="13258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SCORE &amp;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CLUSTER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06440" y="9582912"/>
            <a:ext cx="347472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200" b="1">
                <a:solidFill>
                  <a:srgbClr val="2468AA"/>
                </a:solidFill>
                <a:latin typeface="Aptos"/>
              </a:rPr>
              <a:t>→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172200" y="9372600"/>
            <a:ext cx="1417320" cy="1005840"/>
          </a:xfrm>
          <a:prstGeom prst="roundRect">
            <a:avLst/>
          </a:prstGeom>
          <a:solidFill>
            <a:srgbClr val="F4F8FB"/>
          </a:solidFill>
          <a:ln>
            <a:solidFill>
              <a:srgbClr val="24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217920" y="9582912"/>
            <a:ext cx="13258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REVIEW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QUEUE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9582912"/>
            <a:ext cx="347472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200" b="1">
                <a:solidFill>
                  <a:srgbClr val="2468AA"/>
                </a:solidFill>
                <a:latin typeface="Aptos"/>
              </a:rPr>
              <a:t>→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955279" y="9372600"/>
            <a:ext cx="1417320" cy="1005840"/>
          </a:xfrm>
          <a:prstGeom prst="roundRect">
            <a:avLst/>
          </a:prstGeom>
          <a:solidFill>
            <a:srgbClr val="F4F8FB"/>
          </a:solidFill>
          <a:ln>
            <a:solidFill>
              <a:srgbClr val="24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01000" y="9582912"/>
            <a:ext cx="1325880" cy="50292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SAFE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>
                <a:latin typeface="Aptos"/>
              </a:rPr>
              <a:t>TRASH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" y="10744200"/>
            <a:ext cx="8869680" cy="1051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>
                <a:latin typeface="Aptos"/>
              </a:rPr>
              <a:t>1. Scan files and metadata. 2. Score blur and resolution. 3. Embed with CLIP and cluster duplicates and content. 4. Rank Keep/Delete candidates. 5. Review and move selected files to data/trash.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195560" y="8275320"/>
            <a:ext cx="94640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10195560" y="8275320"/>
            <a:ext cx="109728" cy="4251960"/>
          </a:xfrm>
          <a:prstGeom prst="rect">
            <a:avLst/>
          </a:prstGeom>
          <a:solidFill>
            <a:srgbClr val="36B1C2"/>
          </a:solidFill>
          <a:ln>
            <a:solidFill>
              <a:srgbClr val="36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0424160" y="8439912"/>
            <a:ext cx="90525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06. UNIQUE VALUE PROPOSITION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42448" y="9034272"/>
            <a:ext cx="9006840" cy="3337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One workflow for quality, duplicates, and content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Resumable embedding cache avoids repeat work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Explainable recommendations use quality and similarity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Human approval before any file is moved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Runs locally and scales to large libraries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9842480" y="8275320"/>
            <a:ext cx="9921240" cy="425196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9842480" y="8275320"/>
            <a:ext cx="109728" cy="4251960"/>
          </a:xfrm>
          <a:prstGeom prst="rect">
            <a:avLst/>
          </a:prstGeom>
          <a:solidFill>
            <a:srgbClr val="E07E2F"/>
          </a:solidFill>
          <a:ln>
            <a:solidFill>
              <a:srgbClr val="E0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0071080" y="8439912"/>
            <a:ext cx="95097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07. MARKET OPPORTUNITY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0089368" y="9034272"/>
            <a:ext cx="9464040" cy="33375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TAM: Personal photo-library and storage users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SAM: Families, creators, students, and small teams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SOM: Privacy-conscious users with 10k+ images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Target: Desktop users with unmanaged folders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Opportunity: Growing libraries create review overload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12847320"/>
            <a:ext cx="70866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502920" y="12847320"/>
            <a:ext cx="109728" cy="3886200"/>
          </a:xfrm>
          <a:prstGeom prst="rect">
            <a:avLst/>
          </a:prstGeom>
          <a:solidFill>
            <a:srgbClr val="308B5E"/>
          </a:solidFill>
          <a:ln>
            <a:solidFill>
              <a:srgbClr val="308B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731520" y="13011912"/>
            <a:ext cx="66751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08. BUSINESS MODEL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13606272"/>
            <a:ext cx="6629400" cy="2971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Revenue: Freemium desktop tool / Pro license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Cost: Low; local inference with optional GPU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Pricing: Validate through pilot feedback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Acquisition: Creator communities and app stores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Scale: Cloud connectors, batches, and model packs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772400" y="12847320"/>
            <a:ext cx="70866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7772400" y="12847320"/>
            <a:ext cx="109728" cy="3886200"/>
          </a:xfrm>
          <a:prstGeom prst="rect">
            <a:avLst/>
          </a:prstGeom>
          <a:solidFill>
            <a:srgbClr val="2468AA"/>
          </a:solidFill>
          <a:ln>
            <a:solidFill>
              <a:srgbClr val="246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001000" y="13011912"/>
            <a:ext cx="66751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09. VALIDATION &amp; RESULTS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019288" y="13606272"/>
            <a:ext cx="6629400" cy="2971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ResNet50 CERTH accuracy: 86.96%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Held-out evaluation set: 1,480 images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Sharp-class F1: 0.8462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Laplacian baseline accuracy: 79.93%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Automated unit tests cover core pipeline modules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041880" y="12847320"/>
            <a:ext cx="708660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5041880" y="12847320"/>
            <a:ext cx="109728" cy="3886200"/>
          </a:xfrm>
          <a:prstGeom prst="rect">
            <a:avLst/>
          </a:prstGeom>
          <a:solidFill>
            <a:srgbClr val="E07E2F"/>
          </a:solidFill>
          <a:ln>
            <a:solidFill>
              <a:srgbClr val="E07E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15270480" y="13011912"/>
            <a:ext cx="66751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10. IMPACT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288767" y="13606272"/>
            <a:ext cx="6629400" cy="2971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Social: Less time spent sorting personal memories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Economic: Lower storage and curation effort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Environmental: Fewer redundant copies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Technology: Explainable multimodal workflow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SDG: Responsible consumption and innovation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22311360" y="12847320"/>
            <a:ext cx="7452360" cy="3886200"/>
          </a:xfrm>
          <a:prstGeom prst="roundRect">
            <a:avLst/>
          </a:prstGeom>
          <a:solidFill>
            <a:srgbClr val="FFFFFF"/>
          </a:solidFill>
          <a:ln>
            <a:solidFill>
              <a:srgbClr val="DD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22311360" y="12847320"/>
            <a:ext cx="109728" cy="3886200"/>
          </a:xfrm>
          <a:prstGeom prst="rect">
            <a:avLst/>
          </a:prstGeom>
          <a:solidFill>
            <a:srgbClr val="36B1C2"/>
          </a:solidFill>
          <a:ln>
            <a:solidFill>
              <a:srgbClr val="36B1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22539960" y="13011912"/>
            <a:ext cx="70408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11. TEAM &amp; ASK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2558248" y="13606272"/>
            <a:ext cx="6995160" cy="29718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Team: Deep learning, Python, Streamlit, and CV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Need: Pilot users with real photo libraries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Ask: Mentorship, compute, and product feedback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Pilot: 5-10 libraries; measure time saved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>
                <a:latin typeface="Aptos"/>
              </a:rPr>
              <a:t>• Contact: Pranav Waghmare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16962120"/>
            <a:ext cx="29260800" cy="2331720"/>
          </a:xfrm>
          <a:prstGeom prst="roundRect">
            <a:avLst/>
          </a:prstGeom>
          <a:solidFill>
            <a:srgbClr val="122A42"/>
          </a:solidFill>
          <a:ln>
            <a:solidFill>
              <a:srgbClr val="122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777240" y="17172432"/>
            <a:ext cx="2871216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12. PROTOTYPE  -&gt;  PRODUCT ROADMAP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868680" y="17876520"/>
            <a:ext cx="2331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914400" y="17967960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IDEA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200400" y="17903952"/>
            <a:ext cx="868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4361688" y="17876520"/>
            <a:ext cx="2331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4407407" y="17967960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PROTOTYPE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693407" y="17903952"/>
            <a:ext cx="868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7854696" y="17876520"/>
            <a:ext cx="2331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7900416" y="17967960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MVP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86416" y="17903952"/>
            <a:ext cx="868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11347703" y="17876520"/>
            <a:ext cx="2331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1393424" y="17967960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PILOT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3679423" y="17903952"/>
            <a:ext cx="868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14840712" y="17876520"/>
            <a:ext cx="2331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4886432" y="17967960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VALIDATE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172432" y="17903952"/>
            <a:ext cx="868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8333719" y="17876520"/>
            <a:ext cx="2331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8379439" y="17967960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PRODUCT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0665439" y="17903952"/>
            <a:ext cx="868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21826727" y="17876520"/>
            <a:ext cx="2331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21872448" y="17967960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LAUNCH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24158448" y="17903952"/>
            <a:ext cx="868680" cy="3200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ptos"/>
              </a:rPr>
              <a:t>→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25319735" y="17876520"/>
            <a:ext cx="23317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25365456" y="17967960"/>
            <a:ext cx="2240280" cy="32004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200" b="1">
                <a:solidFill>
                  <a:srgbClr val="122A42"/>
                </a:solidFill>
                <a:latin typeface="Aptos"/>
              </a:rPr>
              <a:t>SCALE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502920" y="19522440"/>
            <a:ext cx="21442680" cy="1417320"/>
          </a:xfrm>
          <a:prstGeom prst="roundRect">
            <a:avLst/>
          </a:prstGeom>
          <a:solidFill>
            <a:srgbClr val="E7F2F8"/>
          </a:solidFill>
          <a:ln>
            <a:solidFill>
              <a:srgbClr val="C8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/>
          <p:cNvSpPr txBox="1"/>
          <p:nvPr/>
        </p:nvSpPr>
        <p:spPr>
          <a:xfrm>
            <a:off x="777240" y="19705320"/>
            <a:ext cx="25603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b="1">
                <a:latin typeface="Aptos"/>
              </a:rPr>
              <a:t>30-SECOND PITCH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154680" y="19641312"/>
            <a:ext cx="13574684" cy="357021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latin typeface="Aptos"/>
              </a:rPr>
              <a:t>We solve photo-library overload for everyday users using local AI, delivering faster review and safer cleanup without permanent deletion.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7240" y="20345400"/>
            <a:ext cx="11047615" cy="29546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>
                <a:latin typeface="Aptos"/>
              </a:rPr>
              <a:t>Contact: Pranav Waghmare    |    Email: p.waghmare.2006@gmail.com    |    Website / QR: Prototype demo</a:t>
            </a:r>
          </a:p>
        </p:txBody>
      </p:sp>
      <p:pic>
        <p:nvPicPr>
          <p:cNvPr id="105" name="Picture 104">
            <a:extLst>
              <a:ext uri="{FF2B5EF4-FFF2-40B4-BE49-F238E27FC236}">
                <a16:creationId xmlns:a16="http://schemas.microsoft.com/office/drawing/2014/main" id="{84E11085-FBBB-7297-4962-561D1376E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4707" y="19547058"/>
            <a:ext cx="1777585" cy="1535156"/>
          </a:xfrm>
          <a:prstGeom prst="rect">
            <a:avLst/>
          </a:prstGeom>
        </p:spPr>
      </p:pic>
      <p:pic>
        <p:nvPicPr>
          <p:cNvPr id="108" name="Picture 107">
            <a:extLst>
              <a:ext uri="{FF2B5EF4-FFF2-40B4-BE49-F238E27FC236}">
                <a16:creationId xmlns:a16="http://schemas.microsoft.com/office/drawing/2014/main" id="{B66AAC91-F3F1-59F6-7C7C-217139156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23942" y="19457753"/>
            <a:ext cx="4191585" cy="17623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F55F312D210741BBBFA01EB5C9689E" ma:contentTypeVersion="1" ma:contentTypeDescription="Create a new document." ma:contentTypeScope="" ma:versionID="af445b737d149b348968c3dda1baef30">
  <xsd:schema xmlns:xsd="http://www.w3.org/2001/XMLSchema" xmlns:xs="http://www.w3.org/2001/XMLSchema" xmlns:p="http://schemas.microsoft.com/office/2006/metadata/properties" xmlns:ns2="15ab9730-dd01-4adb-aae5-9ad5a9fe66ac" targetNamespace="http://schemas.microsoft.com/office/2006/metadata/properties" ma:root="true" ma:fieldsID="0a64f6a1b3daef9ebfe132f9f98a8dc8" ns2:_="">
    <xsd:import namespace="15ab9730-dd01-4adb-aae5-9ad5a9fe66ac"/>
    <xsd:element name="properties">
      <xsd:complexType>
        <xsd:sequence>
          <xsd:element name="documentManagement">
            <xsd:complexType>
              <xsd:all>
                <xsd:element ref="ns2:Reference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ab9730-dd01-4adb-aae5-9ad5a9fe66ac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15ab9730-dd01-4adb-aae5-9ad5a9fe66ac" xsi:nil="true"/>
  </documentManagement>
</p:properties>
</file>

<file path=customXml/itemProps1.xml><?xml version="1.0" encoding="utf-8"?>
<ds:datastoreItem xmlns:ds="http://schemas.openxmlformats.org/officeDocument/2006/customXml" ds:itemID="{DC5F00DC-7797-453B-91BD-BBEA0D47C4AB}"/>
</file>

<file path=customXml/itemProps2.xml><?xml version="1.0" encoding="utf-8"?>
<ds:datastoreItem xmlns:ds="http://schemas.openxmlformats.org/officeDocument/2006/customXml" ds:itemID="{84E84200-8E6E-488D-9130-3BB797F6B99E}"/>
</file>

<file path=customXml/itemProps3.xml><?xml version="1.0" encoding="utf-8"?>
<ds:datastoreItem xmlns:ds="http://schemas.openxmlformats.org/officeDocument/2006/customXml" ds:itemID="{50D3CDE7-833E-427F-91EF-D851674AA778}"/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27</TotalTime>
  <Words>481</Words>
  <Application>Microsoft Office PowerPoint</Application>
  <PresentationFormat>Custom</PresentationFormat>
  <Paragraphs>59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Geetha Narayanan</dc:creator>
  <cp:keywords/>
  <dc:description>generated using python-pptx</dc:description>
  <cp:lastModifiedBy>Dr.Sushopti Gawade</cp:lastModifiedBy>
  <cp:revision>6</cp:revision>
  <dcterms:created xsi:type="dcterms:W3CDTF">2013-01-27T09:14:16Z</dcterms:created>
  <dcterms:modified xsi:type="dcterms:W3CDTF">2026-09-10T04:47:31Z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0x0101009EF55F312D210741BBBFA01EB5C9689E</vt:lpwstr>
  </property>
</Properties>
</file>